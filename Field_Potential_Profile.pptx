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65" r:id="rId8"/>
    <p:sldId id="267" r:id="rId9"/>
    <p:sldId id="258" r:id="rId10"/>
    <p:sldId id="275" r:id="rId11"/>
    <p:sldId id="259" r:id="rId12"/>
    <p:sldId id="276" r:id="rId13"/>
    <p:sldId id="262" r:id="rId14"/>
    <p:sldId id="261" r:id="rId15"/>
    <p:sldId id="266" r:id="rId16"/>
    <p:sldId id="268" r:id="rId17"/>
    <p:sldId id="263" r:id="rId18"/>
    <p:sldId id="264" r:id="rId19"/>
    <p:sldId id="270" r:id="rId20"/>
    <p:sldId id="269" r:id="rId21"/>
    <p:sldId id="271" r:id="rId22"/>
    <p:sldId id="272" r:id="rId23"/>
    <p:sldId id="273" r:id="rId24"/>
    <p:sldId id="27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D8F4-BF19-23C9-9A46-FB841B823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413E-BBD0-4A80-9D8B-9F405C006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0E92B-E0FF-22EC-69E3-57521ABB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28402-8219-8FD6-6291-F4F6607C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3E8AC-EC57-225D-7540-DF22D4DA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14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C640-BC38-3A63-762A-1EBF9369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341A2-CE4B-1572-7876-B0B380566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0F482-3237-DEDF-808A-6B8A4CC8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05D3D-62D5-F117-4FB7-605EC158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9FDE-1B7B-A79A-D43B-EAE2CCDE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71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1F6D-4DAC-E98B-BC97-5A86831B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9536B-EF1D-D76A-E1EF-C7FD7D1B9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34A16-AA84-857C-5E1B-35B046E0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938D3-3F02-5474-BF0B-2C335E1A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29BF-A979-E337-2BBF-F784DF89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14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28FE-AD56-BC61-6BE7-96B2FAA5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0862-EEC9-D9BE-5D92-649CB286B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D8E3C-29AB-6BF2-7F96-5191734B0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415CF-2530-EFED-102B-08012661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7F7DE-3FC8-1D48-A165-C15B7049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FB2CC-1EB3-53E5-FEB1-F879B045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34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5967-2F97-5212-D5BA-78EFBC87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89B9-E9DF-5CF4-AC52-A187F2C6B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B1768-DDAA-10D5-5854-ED374E620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87520-5CF5-8C6B-16C7-1F097CF3B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8FEDBA-3C7D-7381-B68E-850D22F72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161F8-9789-4585-22BA-57B2CE83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964C5-D5BF-39A3-74FF-97BB44D0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77B46-9FC7-E073-53E3-47CF2876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5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E573-EB7D-4012-A701-C111FA9D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0746E-D9B2-203D-8915-66F9C724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3DFCE-E298-2398-C0B0-FB5D73EF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F3B30-7620-8172-7931-7D81A758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9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4F623-DD8B-C877-08B0-FA2333A3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3208A-88F6-1828-DFE3-728530B5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6EB34-472D-1BEF-18F2-3A655BD0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97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8625-1FF8-5FD2-AE04-F2A009663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B054C-87A9-30E6-AF87-50293F9EA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7FF54-CAE3-622F-E2F2-8440D8D7C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D127E-4619-5D2B-2B0A-077ABF1C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F8DD6-55DC-EE94-9134-E9189EBA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AE1E8-2C29-73CB-E930-3414229B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04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F29D-A2F7-C9C3-5877-BEEF5AA7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1266F-3FED-4C10-79BE-73FC143CB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F333E-FB57-7341-5D08-8D43F34C7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DAD38-855C-582B-C67A-1CF33FB8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DE1BB-0378-EFCC-5097-0DD63D45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183FF-34C7-E1EF-B476-5E6D7814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5E2F-A360-3B4E-3C7B-90AE5A17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0B873-6C8A-AFD8-0B12-E3052B36D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7152-9BB6-28A3-2C5B-FFF378C3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8428E-7F41-A100-0722-0CC2A7FC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61769-3109-0697-E4D1-01AF6DAC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03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420969-BD38-CAB3-DBA2-557DBF956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B974D-3982-D836-73B2-7CD04828B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031D-4615-B631-4920-056DD873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2AC39-F9F6-D42A-6CC6-49039105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579C9-07B6-EE7A-F5A3-47ADAA2F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2B04A-7B12-432D-8B55-B4F5C33F6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122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B55FD-B8FB-F972-99B3-89A3130D7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97" y="365126"/>
            <a:ext cx="9434304" cy="99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92E62-3649-2E15-E0B1-FCF18DAB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096" y="1438183"/>
            <a:ext cx="9434305" cy="4589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7F6F-DEA0-6D3C-49EC-7C8372BEF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54096" y="6107838"/>
            <a:ext cx="1661905" cy="385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CFE8-5C18-40D1-B850-DFF03403EF55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7901C-7BE5-AF76-4E2A-35AFEAF40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2444" y="6107838"/>
            <a:ext cx="2492858" cy="385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D11A-1E86-9FE7-672D-E6A5630BE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6496" y="6107838"/>
            <a:ext cx="1661905" cy="385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B04A-7B12-432D-8B55-B4F5C33F6AC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4CC72-0FB2-F133-4248-38CFAFF0215E}"/>
              </a:ext>
            </a:extLst>
          </p:cNvPr>
          <p:cNvSpPr/>
          <p:nvPr userDrawn="1"/>
        </p:nvSpPr>
        <p:spPr>
          <a:xfrm>
            <a:off x="115410" y="0"/>
            <a:ext cx="45719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9132D9-8F4C-7A01-1EE7-6626EE3B3980}"/>
              </a:ext>
            </a:extLst>
          </p:cNvPr>
          <p:cNvSpPr/>
          <p:nvPr userDrawn="1"/>
        </p:nvSpPr>
        <p:spPr>
          <a:xfrm>
            <a:off x="267810" y="0"/>
            <a:ext cx="45719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7B84-E926-C953-1645-16E58794BAF7}"/>
              </a:ext>
            </a:extLst>
          </p:cNvPr>
          <p:cNvSpPr/>
          <p:nvPr userDrawn="1"/>
        </p:nvSpPr>
        <p:spPr>
          <a:xfrm>
            <a:off x="420210" y="0"/>
            <a:ext cx="45719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F6060-DDF4-74FE-4EBA-82584BDAD7EC}"/>
              </a:ext>
            </a:extLst>
          </p:cNvPr>
          <p:cNvSpPr/>
          <p:nvPr userDrawn="1"/>
        </p:nvSpPr>
        <p:spPr>
          <a:xfrm rot="5400000">
            <a:off x="6073140" y="464211"/>
            <a:ext cx="45719" cy="1219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85DAC2-879F-E439-448D-7859D006A359}"/>
              </a:ext>
            </a:extLst>
          </p:cNvPr>
          <p:cNvSpPr/>
          <p:nvPr userDrawn="1"/>
        </p:nvSpPr>
        <p:spPr>
          <a:xfrm rot="5400000">
            <a:off x="6073140" y="576152"/>
            <a:ext cx="45719" cy="1219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D99B7-4459-EB87-A6C4-EDF38E6BDDA1}"/>
              </a:ext>
            </a:extLst>
          </p:cNvPr>
          <p:cNvSpPr/>
          <p:nvPr userDrawn="1"/>
        </p:nvSpPr>
        <p:spPr>
          <a:xfrm rot="5400000">
            <a:off x="6073139" y="688095"/>
            <a:ext cx="45719" cy="1219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Department of Entrepreneurship and Management | IIT Hyderabad">
            <a:extLst>
              <a:ext uri="{FF2B5EF4-FFF2-40B4-BE49-F238E27FC236}">
                <a16:creationId xmlns:a16="http://schemas.microsoft.com/office/drawing/2014/main" id="{B801244A-7E49-D14F-C9D7-168C5AB6FE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2" t="15094" r="40253" b="32098"/>
          <a:stretch/>
        </p:blipFill>
        <p:spPr bwMode="auto">
          <a:xfrm>
            <a:off x="10691192" y="0"/>
            <a:ext cx="1500807" cy="146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38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1.png"/><Relationship Id="rId9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1657-35B6-97F4-2314-A8BD04142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Electric Field and </a:t>
            </a:r>
            <a:r>
              <a:rPr lang="en-IN" b="1" dirty="0" smtClean="0"/>
              <a:t>Potential Profile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8B39D-6C89-6444-8FF4-D3EF75033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8553" y="3767408"/>
            <a:ext cx="9518016" cy="1655762"/>
          </a:xfrm>
        </p:spPr>
        <p:txBody>
          <a:bodyPr/>
          <a:lstStyle/>
          <a:p>
            <a:pPr algn="l"/>
            <a:r>
              <a:rPr lang="en-IN" dirty="0"/>
              <a:t>Faculty – </a:t>
            </a:r>
            <a:r>
              <a:rPr lang="en-IN" dirty="0" err="1"/>
              <a:t>Dr.</a:t>
            </a:r>
            <a:r>
              <a:rPr lang="en-IN" dirty="0"/>
              <a:t> Naresh </a:t>
            </a:r>
            <a:r>
              <a:rPr lang="en-IN" dirty="0" smtClean="0"/>
              <a:t>Kumar </a:t>
            </a:r>
            <a:r>
              <a:rPr lang="en-IN" dirty="0" err="1"/>
              <a:t>Emani</a:t>
            </a:r>
            <a:r>
              <a:rPr lang="en-IN" dirty="0"/>
              <a:t>                     </a:t>
            </a:r>
            <a:r>
              <a:rPr lang="en-IN" dirty="0" smtClean="0"/>
              <a:t>Name- </a:t>
            </a:r>
            <a:r>
              <a:rPr lang="en-IN" dirty="0"/>
              <a:t>Bipul Biswas</a:t>
            </a:r>
          </a:p>
          <a:p>
            <a:pPr algn="l"/>
            <a:r>
              <a:rPr lang="en-IN" dirty="0"/>
              <a:t>                                                                                  Roll No. EE24MTECH12003</a:t>
            </a:r>
          </a:p>
        </p:txBody>
      </p:sp>
    </p:spTree>
    <p:extLst>
      <p:ext uri="{BB962C8B-B14F-4D97-AF65-F5344CB8AC3E}">
        <p14:creationId xmlns:p14="http://schemas.microsoft.com/office/powerpoint/2010/main" val="131138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74F9-A91B-7689-5FA7-9DB2BA3A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Doping profile of material-1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AEF52-A831-BE82-32B8-97B8CE702392}"/>
              </a:ext>
            </a:extLst>
          </p:cNvPr>
          <p:cNvSpPr/>
          <p:nvPr/>
        </p:nvSpPr>
        <p:spPr>
          <a:xfrm>
            <a:off x="3733551" y="2676041"/>
            <a:ext cx="2393004" cy="1862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6B8AE-AFE1-E811-2186-C85F769C3CF6}"/>
              </a:ext>
            </a:extLst>
          </p:cNvPr>
          <p:cNvSpPr/>
          <p:nvPr/>
        </p:nvSpPr>
        <p:spPr>
          <a:xfrm>
            <a:off x="6126555" y="2676041"/>
            <a:ext cx="2393004" cy="18628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733551" y="4718850"/>
            <a:ext cx="47860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/>
              <p:nvPr/>
            </p:nvSpPr>
            <p:spPr>
              <a:xfrm>
                <a:off x="3840555" y="1975650"/>
                <a:ext cx="219845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0" dirty="0"/>
              </a:p>
              <a:p>
                <a:r>
                  <a:rPr lang="en-IN" dirty="0" smtClean="0"/>
                  <a:t>N</a:t>
                </a:r>
                <a:r>
                  <a:rPr lang="en-IN" baseline="-25000" dirty="0" smtClean="0"/>
                  <a:t>a</a:t>
                </a:r>
                <a:r>
                  <a:rPr lang="en-IN" dirty="0" smtClean="0"/>
                  <a:t> = 10</a:t>
                </a:r>
                <a:r>
                  <a:rPr lang="en-IN" baseline="30000" dirty="0" smtClean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555" y="1975650"/>
                <a:ext cx="2198451" cy="1200329"/>
              </a:xfrm>
              <a:prstGeom prst="rect">
                <a:avLst/>
              </a:prstGeom>
              <a:blipFill>
                <a:blip r:embed="rId2"/>
                <a:stretch>
                  <a:fillRect l="-2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51D2F4-2684-2949-1351-4B793888C65D}"/>
                  </a:ext>
                </a:extLst>
              </p:cNvPr>
              <p:cNvSpPr txBox="1"/>
              <p:nvPr/>
            </p:nvSpPr>
            <p:spPr>
              <a:xfrm>
                <a:off x="6214104" y="2174453"/>
                <a:ext cx="21984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dirty="0" smtClean="0"/>
                  <a:t> = 10</a:t>
                </a:r>
                <a:r>
                  <a:rPr lang="en-IN" baseline="30000" dirty="0" smtClean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51D2F4-2684-2949-1351-4B793888C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104" y="2174453"/>
                <a:ext cx="2198451" cy="923330"/>
              </a:xfrm>
              <a:prstGeom prst="rect">
                <a:avLst/>
              </a:prstGeom>
              <a:blipFill>
                <a:blip r:embed="rId3"/>
                <a:stretch>
                  <a:fillRect l="-2216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4610697" y="4758774"/>
                <a:ext cx="3031715" cy="2800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i="0" dirty="0" smtClean="0">
                    <a:latin typeface="+mj-lt"/>
                  </a:rPr>
                  <a:t>L=1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i="0" dirty="0" smtClean="0">
                    <a:latin typeface="+mj-lt"/>
                  </a:rPr>
                  <a:t>m=1</a:t>
                </a:r>
                <a:r>
                  <a:rPr lang="en-IN" b="1" i="0" dirty="0" smtClean="0">
                    <a:latin typeface="+mj-lt"/>
                  </a:rPr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 smtClean="0"/>
                  <a:t> </a:t>
                </a:r>
                <a:r>
                  <a:rPr lang="en-IN" b="1" dirty="0"/>
                  <a:t>cm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697" y="4758774"/>
                <a:ext cx="3031715" cy="280077"/>
              </a:xfrm>
              <a:prstGeom prst="rect">
                <a:avLst/>
              </a:prstGeom>
              <a:blipFill>
                <a:blip r:embed="rId4"/>
                <a:stretch>
                  <a:fillRect t="-3043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28B3FE5-CC11-1B8B-5810-99F499B6DD9A}"/>
              </a:ext>
            </a:extLst>
          </p:cNvPr>
          <p:cNvSpPr txBox="1"/>
          <p:nvPr/>
        </p:nvSpPr>
        <p:spPr>
          <a:xfrm>
            <a:off x="6272471" y="2765864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N-Type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15FC3-6282-9820-0BC2-C3E455D7DB49}"/>
              </a:ext>
            </a:extLst>
          </p:cNvPr>
          <p:cNvSpPr txBox="1"/>
          <p:nvPr/>
        </p:nvSpPr>
        <p:spPr>
          <a:xfrm>
            <a:off x="3939516" y="2765864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P-Type</a:t>
            </a:r>
          </a:p>
        </p:txBody>
      </p:sp>
    </p:spTree>
    <p:extLst>
      <p:ext uri="{BB962C8B-B14F-4D97-AF65-F5344CB8AC3E}">
        <p14:creationId xmlns:p14="http://schemas.microsoft.com/office/powerpoint/2010/main" val="222899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01EC-8201-3824-267D-2AB88795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Electrons and Holes Profile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44" y="1095234"/>
            <a:ext cx="8622809" cy="51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</a:t>
            </a:r>
            <a:r>
              <a:rPr lang="en-IN" dirty="0" smtClean="0"/>
              <a:t>Holes </a:t>
            </a:r>
            <a:r>
              <a:rPr lang="en-IN" dirty="0"/>
              <a:t>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987" y="1183444"/>
            <a:ext cx="8402524" cy="504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8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Charge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" t="5129" r="4256"/>
          <a:stretch/>
        </p:blipFill>
        <p:spPr>
          <a:xfrm>
            <a:off x="1615772" y="1169377"/>
            <a:ext cx="8510954" cy="52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8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FDAB-FD61-3116-4929-D8029A85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Electric Field Profile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BEBFC4-1A02-449B-B0D4-741069405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067476"/>
              </p:ext>
            </p:extLst>
          </p:nvPr>
        </p:nvGraphicFramePr>
        <p:xfrm>
          <a:off x="7733489" y="2316480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(V/m)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-1.10535e+07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-1.94289e-06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r="5161"/>
          <a:stretch/>
        </p:blipFill>
        <p:spPr>
          <a:xfrm>
            <a:off x="571499" y="1358284"/>
            <a:ext cx="7166788" cy="467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5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blob:https://web.whatsapp.com/6f88e548-ad11-4685-a2af-fa0350fd60d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37" y="729761"/>
            <a:ext cx="9093709" cy="51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1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AE2D-AC4B-24A7-89F9-3185EED9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Potential </a:t>
            </a:r>
            <a:r>
              <a:rPr lang="en-IN" dirty="0"/>
              <a:t>profile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7D5A85-FC1A-CC58-14DC-750887A2A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31809"/>
              </p:ext>
            </p:extLst>
          </p:nvPr>
        </p:nvGraphicFramePr>
        <p:xfrm>
          <a:off x="7733489" y="2316480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/>
                        <a:t>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-0.14650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-0.99924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6" t="740" r="3792" b="-740"/>
          <a:stretch/>
        </p:blipFill>
        <p:spPr>
          <a:xfrm>
            <a:off x="594135" y="1562422"/>
            <a:ext cx="7139354" cy="4754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87866" y="4044434"/>
            <a:ext cx="3096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Potential Difference = </a:t>
            </a:r>
            <a:r>
              <a:rPr lang="en-US" dirty="0" smtClean="0"/>
              <a:t>0.8527 </a:t>
            </a:r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02794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06668"/>
            <a:ext cx="8484577" cy="564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1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74F9-A91B-7689-5FA7-9DB2BA3A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Doping profile of material-2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AEF52-A831-BE82-32B8-97B8CE702392}"/>
              </a:ext>
            </a:extLst>
          </p:cNvPr>
          <p:cNvSpPr/>
          <p:nvPr/>
        </p:nvSpPr>
        <p:spPr>
          <a:xfrm>
            <a:off x="3715966" y="2711211"/>
            <a:ext cx="2393004" cy="1862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6B8AE-AFE1-E811-2186-C85F769C3CF6}"/>
              </a:ext>
            </a:extLst>
          </p:cNvPr>
          <p:cNvSpPr/>
          <p:nvPr/>
        </p:nvSpPr>
        <p:spPr>
          <a:xfrm>
            <a:off x="6108970" y="2711211"/>
            <a:ext cx="2393004" cy="186284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715966" y="4754020"/>
            <a:ext cx="47860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/>
              <p:nvPr/>
            </p:nvSpPr>
            <p:spPr>
              <a:xfrm>
                <a:off x="3822970" y="2010820"/>
                <a:ext cx="219845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0" dirty="0"/>
              </a:p>
              <a:p>
                <a:r>
                  <a:rPr lang="en-IN" dirty="0"/>
                  <a:t>N</a:t>
                </a:r>
                <a:r>
                  <a:rPr lang="en-IN" baseline="-25000" dirty="0"/>
                  <a:t>a </a:t>
                </a:r>
                <a:r>
                  <a:rPr lang="en-IN" dirty="0" smtClean="0"/>
                  <a:t>= 10</a:t>
                </a:r>
                <a:r>
                  <a:rPr lang="en-IN" baseline="30000" dirty="0" smtClean="0"/>
                  <a:t>15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70" y="2010820"/>
                <a:ext cx="2198451" cy="1200329"/>
              </a:xfrm>
              <a:prstGeom prst="rect">
                <a:avLst/>
              </a:prstGeom>
              <a:blipFill>
                <a:blip r:embed="rId2"/>
                <a:stretch>
                  <a:fillRect l="-2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51D2F4-2684-2949-1351-4B793888C65D}"/>
                  </a:ext>
                </a:extLst>
              </p:cNvPr>
              <p:cNvSpPr txBox="1"/>
              <p:nvPr/>
            </p:nvSpPr>
            <p:spPr>
              <a:xfrm>
                <a:off x="6215974" y="2010819"/>
                <a:ext cx="219845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0" dirty="0"/>
              </a:p>
              <a:p>
                <a:r>
                  <a:rPr lang="en-IN" dirty="0" smtClean="0"/>
                  <a:t>N</a:t>
                </a:r>
                <a:r>
                  <a:rPr lang="en-IN" baseline="-25000" dirty="0"/>
                  <a:t>a</a:t>
                </a:r>
                <a:r>
                  <a:rPr lang="en-IN" baseline="-25000" dirty="0" smtClean="0"/>
                  <a:t> </a:t>
                </a:r>
                <a:r>
                  <a:rPr lang="en-IN" dirty="0" smtClean="0"/>
                  <a:t>= </a:t>
                </a:r>
                <a:r>
                  <a:rPr lang="en-IN" dirty="0"/>
                  <a:t>10</a:t>
                </a:r>
                <a:r>
                  <a:rPr lang="en-IN" baseline="30000" dirty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51D2F4-2684-2949-1351-4B793888C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974" y="2010819"/>
                <a:ext cx="2198451" cy="1200329"/>
              </a:xfrm>
              <a:prstGeom prst="rect">
                <a:avLst/>
              </a:prstGeom>
              <a:blipFill>
                <a:blip r:embed="rId3"/>
                <a:stretch>
                  <a:fillRect l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4922195" y="4792726"/>
                <a:ext cx="2460028" cy="2825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1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1</a:t>
                </a:r>
                <a:r>
                  <a:rPr lang="en-IN" b="1" dirty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195" y="4792726"/>
                <a:ext cx="2460028" cy="282513"/>
              </a:xfrm>
              <a:prstGeom prst="rect">
                <a:avLst/>
              </a:prstGeom>
              <a:blipFill>
                <a:blip r:embed="rId4"/>
                <a:stretch>
                  <a:fillRect t="-29787" b="-4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28B3FE5-CC11-1B8B-5810-99F499B6DD9A}"/>
              </a:ext>
            </a:extLst>
          </p:cNvPr>
          <p:cNvSpPr txBox="1"/>
          <p:nvPr/>
        </p:nvSpPr>
        <p:spPr>
          <a:xfrm>
            <a:off x="3764605" y="2730985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</a:t>
            </a:r>
            <a:r>
              <a:rPr lang="en-IN" dirty="0" smtClean="0">
                <a:solidFill>
                  <a:schemeClr val="bg1"/>
                </a:solidFill>
              </a:rPr>
              <a:t>p-Type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15FC3-6282-9820-0BC2-C3E455D7DB49}"/>
              </a:ext>
            </a:extLst>
          </p:cNvPr>
          <p:cNvSpPr txBox="1"/>
          <p:nvPr/>
        </p:nvSpPr>
        <p:spPr>
          <a:xfrm>
            <a:off x="6128425" y="2747131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</a:t>
            </a:r>
            <a:r>
              <a:rPr lang="en-IN" dirty="0" smtClean="0">
                <a:solidFill>
                  <a:schemeClr val="bg1"/>
                </a:solidFill>
              </a:rPr>
              <a:t>P-Type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6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C6F8-20F9-B049-C617-38876EDD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holes Profile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142" y="1080245"/>
            <a:ext cx="8926214" cy="535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5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</a:t>
            </a:r>
            <a:r>
              <a:rPr lang="en-IN" dirty="0" smtClean="0"/>
              <a:t>Holes </a:t>
            </a:r>
            <a:r>
              <a:rPr lang="en-IN" dirty="0"/>
              <a:t>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40" y="1046278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0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Charge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" t="4647" r="5700"/>
          <a:stretch/>
        </p:blipFill>
        <p:spPr>
          <a:xfrm>
            <a:off x="1584999" y="1222131"/>
            <a:ext cx="8396654" cy="523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92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FCA4-B040-E4C7-C764-9D212C52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Electric Field Profile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3C76C5-F447-BBB8-B348-DA08A375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442497"/>
              </p:ext>
            </p:extLst>
          </p:nvPr>
        </p:nvGraphicFramePr>
        <p:xfrm>
          <a:off x="7733489" y="2316480"/>
          <a:ext cx="4173166" cy="172222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(V/m)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1.62277e+06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1.88738e-06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r="6186"/>
          <a:stretch/>
        </p:blipFill>
        <p:spPr>
          <a:xfrm>
            <a:off x="536331" y="1358284"/>
            <a:ext cx="7197158" cy="498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1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9EF2-5A1C-A83A-2066-445DDA51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Potential </a:t>
            </a:r>
            <a:r>
              <a:rPr lang="en-IN" dirty="0"/>
              <a:t>P</a:t>
            </a:r>
            <a:r>
              <a:rPr lang="en-IN" dirty="0" smtClean="0"/>
              <a:t>rofile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147E18-EC55-ED85-EA7D-E18D9E1EF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037150"/>
              </p:ext>
            </p:extLst>
          </p:nvPr>
        </p:nvGraphicFramePr>
        <p:xfrm>
          <a:off x="7733489" y="2316480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 smtClean="0"/>
                        <a:t>(V)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-0.879511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-0.999245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5416"/>
          <a:stretch/>
        </p:blipFill>
        <p:spPr>
          <a:xfrm>
            <a:off x="668215" y="1234197"/>
            <a:ext cx="7065274" cy="5184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15475" y="4106008"/>
            <a:ext cx="320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Potential Difference = 0.1197 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3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Doping profile of </a:t>
            </a:r>
            <a:r>
              <a:rPr lang="en-IN" dirty="0" smtClean="0"/>
              <a:t>material-3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AEF52-A831-BE82-32B8-97B8CE702392}"/>
              </a:ext>
            </a:extLst>
          </p:cNvPr>
          <p:cNvSpPr/>
          <p:nvPr/>
        </p:nvSpPr>
        <p:spPr>
          <a:xfrm>
            <a:off x="3672004" y="2702419"/>
            <a:ext cx="2393004" cy="18628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6B8AE-AFE1-E811-2186-C85F769C3CF6}"/>
              </a:ext>
            </a:extLst>
          </p:cNvPr>
          <p:cNvSpPr/>
          <p:nvPr/>
        </p:nvSpPr>
        <p:spPr>
          <a:xfrm>
            <a:off x="6065008" y="2702419"/>
            <a:ext cx="2393004" cy="18628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672004" y="4745228"/>
            <a:ext cx="47860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/>
              <p:nvPr/>
            </p:nvSpPr>
            <p:spPr>
              <a:xfrm>
                <a:off x="3866557" y="2323200"/>
                <a:ext cx="21984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baseline="-25000" dirty="0" smtClean="0"/>
                  <a:t> </a:t>
                </a:r>
                <a:r>
                  <a:rPr lang="en-IN" dirty="0"/>
                  <a:t>= 10</a:t>
                </a:r>
                <a:r>
                  <a:rPr lang="en-IN" baseline="30000" dirty="0"/>
                  <a:t>15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0C72A7-ACD4-E44B-1FC9-9699BD26E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557" y="2323200"/>
                <a:ext cx="2198451" cy="369332"/>
              </a:xfrm>
              <a:prstGeom prst="rect">
                <a:avLst/>
              </a:prstGeom>
              <a:blipFill>
                <a:blip r:embed="rId2"/>
                <a:stretch>
                  <a:fillRect l="-221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4878233" y="4783934"/>
                <a:ext cx="2460028" cy="2825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1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1</a:t>
                </a:r>
                <a:r>
                  <a:rPr lang="en-IN" b="1" dirty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233" y="4783934"/>
                <a:ext cx="2460028" cy="282513"/>
              </a:xfrm>
              <a:prstGeom prst="rect">
                <a:avLst/>
              </a:prstGeom>
              <a:blipFill>
                <a:blip r:embed="rId4"/>
                <a:stretch>
                  <a:fillRect t="-3043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28B3FE5-CC11-1B8B-5810-99F499B6DD9A}"/>
              </a:ext>
            </a:extLst>
          </p:cNvPr>
          <p:cNvSpPr txBox="1"/>
          <p:nvPr/>
        </p:nvSpPr>
        <p:spPr>
          <a:xfrm>
            <a:off x="3720643" y="2722193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N</a:t>
            </a:r>
            <a:r>
              <a:rPr lang="en-IN" dirty="0" smtClean="0">
                <a:solidFill>
                  <a:schemeClr val="bg1"/>
                </a:solidFill>
              </a:rPr>
              <a:t>-Type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15FC3-6282-9820-0BC2-C3E455D7DB49}"/>
              </a:ext>
            </a:extLst>
          </p:cNvPr>
          <p:cNvSpPr txBox="1"/>
          <p:nvPr/>
        </p:nvSpPr>
        <p:spPr>
          <a:xfrm>
            <a:off x="6084463" y="2738339"/>
            <a:ext cx="15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Silicon N</a:t>
            </a:r>
            <a:r>
              <a:rPr lang="en-IN" dirty="0" smtClean="0">
                <a:solidFill>
                  <a:schemeClr val="bg1"/>
                </a:solidFill>
              </a:rPr>
              <a:t>-Type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065008" y="2279026"/>
                <a:ext cx="15944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baseline="-25000" dirty="0" smtClean="0"/>
                  <a:t> </a:t>
                </a:r>
                <a:r>
                  <a:rPr lang="en-IN" dirty="0"/>
                  <a:t>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008" y="2279026"/>
                <a:ext cx="1594411" cy="369332"/>
              </a:xfrm>
              <a:prstGeom prst="rect">
                <a:avLst/>
              </a:prstGeom>
              <a:blipFill>
                <a:blip r:embed="rId5"/>
                <a:stretch>
                  <a:fillRect l="-344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75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Holes Profile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" t="4966" r="6276" b="1924"/>
          <a:stretch/>
        </p:blipFill>
        <p:spPr>
          <a:xfrm>
            <a:off x="1804806" y="1257301"/>
            <a:ext cx="8132885" cy="510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96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Holes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t="3832" r="5954" b="1830"/>
          <a:stretch/>
        </p:blipFill>
        <p:spPr>
          <a:xfrm>
            <a:off x="1905918" y="1169377"/>
            <a:ext cx="7930662" cy="498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8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Charge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904" y="1254048"/>
            <a:ext cx="8350689" cy="501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57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Electric Field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" t="3650" r="4764" b="2577"/>
          <a:stretch/>
        </p:blipFill>
        <p:spPr>
          <a:xfrm>
            <a:off x="606669" y="1358284"/>
            <a:ext cx="7485003" cy="485787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3C76C5-F447-BBB8-B348-DA08A375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66310"/>
              </p:ext>
            </p:extLst>
          </p:nvPr>
        </p:nvGraphicFramePr>
        <p:xfrm>
          <a:off x="7838997" y="2351442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(V/m)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-1.62277e+06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-1.91513e-06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736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Potential Profile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t="6088" r="7757" b="2084"/>
          <a:stretch/>
        </p:blipFill>
        <p:spPr>
          <a:xfrm>
            <a:off x="518746" y="1134207"/>
            <a:ext cx="7287794" cy="518746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147E18-EC55-ED85-EA7D-E18D9E1EF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791531"/>
              </p:ext>
            </p:extLst>
          </p:nvPr>
        </p:nvGraphicFramePr>
        <p:xfrm>
          <a:off x="7877908" y="2342857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/>
                        <a:t>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-0.14650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-0.26623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22567" y="4053226"/>
            <a:ext cx="3283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Potential Difference = </a:t>
            </a:r>
            <a:r>
              <a:rPr lang="en-US" dirty="0" smtClean="0"/>
              <a:t>-0.11973 </a:t>
            </a:r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785145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Doping profile of </a:t>
            </a:r>
            <a:r>
              <a:rPr lang="en-IN" dirty="0" smtClean="0"/>
              <a:t>material-4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19147" y="2400300"/>
            <a:ext cx="1670538" cy="18727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89685" y="2400300"/>
            <a:ext cx="773723" cy="1872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63408" y="2400300"/>
            <a:ext cx="1670538" cy="1872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719147" y="4367158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3719147" y="4456935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47" y="4456935"/>
                <a:ext cx="1153290" cy="836511"/>
              </a:xfrm>
              <a:prstGeom prst="rect">
                <a:avLst/>
              </a:prstGeom>
              <a:blipFill>
                <a:blip r:embed="rId2"/>
                <a:stretch>
                  <a:fillRect l="-8995" t="-9489" r="-10053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6163408" y="4370705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5389685" y="4367158"/>
            <a:ext cx="7625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6680656" y="4456936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656" y="4456936"/>
                <a:ext cx="1153290" cy="836511"/>
              </a:xfrm>
              <a:prstGeom prst="rect">
                <a:avLst/>
              </a:prstGeom>
              <a:blipFill>
                <a:blip r:embed="rId3"/>
                <a:stretch>
                  <a:fillRect l="-9524" t="-9489" r="-9524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5199901" y="4461255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0.3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0.3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901" y="4461255"/>
                <a:ext cx="1153290" cy="836511"/>
              </a:xfrm>
              <a:prstGeom prst="rect">
                <a:avLst/>
              </a:prstGeom>
              <a:blipFill>
                <a:blip r:embed="rId4"/>
                <a:stretch>
                  <a:fillRect l="-8995" t="-9489" r="-10053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675881" y="3027520"/>
            <a:ext cx="1609483" cy="4999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179604" y="3042761"/>
            <a:ext cx="1579001" cy="4999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09584" y="2549768"/>
            <a:ext cx="461665" cy="14859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 smtClean="0"/>
              <a:t>Intrinsic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166288" y="1979510"/>
                <a:ext cx="16056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N</a:t>
                </a:r>
                <a:r>
                  <a:rPr lang="en-IN" baseline="-25000" dirty="0"/>
                  <a:t>a</a:t>
                </a:r>
                <a:r>
                  <a:rPr lang="en-IN" dirty="0"/>
                  <a:t> 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16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88" y="1979510"/>
                <a:ext cx="1605632" cy="369332"/>
              </a:xfrm>
              <a:prstGeom prst="rect">
                <a:avLst/>
              </a:prstGeom>
              <a:blipFill>
                <a:blip r:embed="rId7"/>
                <a:stretch>
                  <a:fillRect l="-303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968131" y="1653899"/>
                <a:ext cx="160563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 smtClean="0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10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dirty="0" smtClean="0"/>
              </a:p>
              <a:p>
                <a:r>
                  <a:rPr lang="en-IN" dirty="0" smtClean="0"/>
                  <a:t>N</a:t>
                </a:r>
                <a:r>
                  <a:rPr lang="en-IN" baseline="-25000" dirty="0" smtClean="0"/>
                  <a:t>a</a:t>
                </a:r>
                <a:r>
                  <a:rPr lang="en-IN" dirty="0" smtClean="0"/>
                  <a:t> </a:t>
                </a:r>
                <a:r>
                  <a:rPr lang="en-IN" dirty="0"/>
                  <a:t>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10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31" y="1653899"/>
                <a:ext cx="1605632" cy="646331"/>
              </a:xfrm>
              <a:prstGeom prst="rect">
                <a:avLst/>
              </a:prstGeom>
              <a:blipFill>
                <a:blip r:embed="rId8"/>
                <a:stretch>
                  <a:fillRect l="-342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731922" y="1990390"/>
                <a:ext cx="1612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10</a:t>
                </a:r>
                <a:r>
                  <a:rPr lang="en-IN" baseline="30000" dirty="0"/>
                  <a:t>16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922" y="1990390"/>
                <a:ext cx="1612044" cy="369332"/>
              </a:xfrm>
              <a:prstGeom prst="rect">
                <a:avLst/>
              </a:prstGeom>
              <a:blipFill>
                <a:blip r:embed="rId9"/>
                <a:stretch>
                  <a:fillRect l="-301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353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9FCC6F8-20F9-B049-C617-38876EDD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holes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t="4007" r="5994" b="2565"/>
          <a:stretch/>
        </p:blipFill>
        <p:spPr>
          <a:xfrm>
            <a:off x="1782826" y="1169376"/>
            <a:ext cx="8176846" cy="512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27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</a:t>
            </a:r>
            <a:r>
              <a:rPr lang="en-IN" dirty="0" smtClean="0"/>
              <a:t>Holes </a:t>
            </a:r>
            <a:r>
              <a:rPr lang="en-IN" dirty="0"/>
              <a:t>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2" t="4647" r="5899" b="1602"/>
          <a:stretch/>
        </p:blipFill>
        <p:spPr>
          <a:xfrm>
            <a:off x="1756449" y="1248507"/>
            <a:ext cx="82296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36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27720" y="145318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Charge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6" t="4487" r="5513" b="2564"/>
          <a:stretch/>
        </p:blipFill>
        <p:spPr>
          <a:xfrm>
            <a:off x="1650941" y="1046284"/>
            <a:ext cx="8387862" cy="50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73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2DFCA4-B040-E4C7-C764-9D212C52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512" y="189280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Electric Field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4487" r="5748" b="2084"/>
          <a:stretch/>
        </p:blipFill>
        <p:spPr>
          <a:xfrm>
            <a:off x="483577" y="1336431"/>
            <a:ext cx="7663872" cy="470815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3C76C5-F447-BBB8-B348-DA08A375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6421"/>
              </p:ext>
            </p:extLst>
          </p:nvPr>
        </p:nvGraphicFramePr>
        <p:xfrm>
          <a:off x="7900544" y="2245934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(V/m)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-59.6051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-1.66873e+06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085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36512" y="74980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Potential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7" t="5532" r="7052" b="2482"/>
          <a:stretch/>
        </p:blipFill>
        <p:spPr>
          <a:xfrm>
            <a:off x="573883" y="1327638"/>
            <a:ext cx="7698020" cy="478728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147E18-EC55-ED85-EA7D-E18D9E1EF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461095"/>
              </p:ext>
            </p:extLst>
          </p:nvPr>
        </p:nvGraphicFramePr>
        <p:xfrm>
          <a:off x="8018834" y="2342857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/>
                        <a:t>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mtClean="0"/>
                        <a:t>-0.20637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-0.93937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2567" y="4053226"/>
            <a:ext cx="3049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Potential Difference = </a:t>
            </a:r>
            <a:r>
              <a:rPr lang="en-US" dirty="0" smtClean="0"/>
              <a:t>-</a:t>
            </a:r>
            <a:r>
              <a:rPr lang="en-US" dirty="0" smtClean="0"/>
              <a:t>0.733 </a:t>
            </a:r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54148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224436" y="523386"/>
            <a:ext cx="9434304" cy="99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 smtClean="0"/>
              <a:t>Doping profile of material-5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24245" y="2558560"/>
            <a:ext cx="1670538" cy="18727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97638" y="2558560"/>
            <a:ext cx="1225892" cy="18727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29241" y="2558560"/>
            <a:ext cx="1670538" cy="18727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524245" y="4526347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3645009" y="4615195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009" y="4615195"/>
                <a:ext cx="1153290" cy="836511"/>
              </a:xfrm>
              <a:prstGeom prst="rect">
                <a:avLst/>
              </a:prstGeom>
              <a:blipFill>
                <a:blip r:embed="rId2"/>
                <a:stretch>
                  <a:fillRect l="-8995" t="-9489" r="-10053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6423530" y="4519791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 flipV="1">
            <a:off x="5194783" y="4519791"/>
            <a:ext cx="1228747" cy="65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6750995" y="4615196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995" y="4615196"/>
                <a:ext cx="1153290" cy="836511"/>
              </a:xfrm>
              <a:prstGeom prst="rect">
                <a:avLst/>
              </a:prstGeom>
              <a:blipFill>
                <a:blip r:embed="rId3"/>
                <a:stretch>
                  <a:fillRect l="-8947" t="-9489" r="-9474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5194783" y="4619515"/>
                <a:ext cx="1228747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</a:t>
                </a:r>
                <a:r>
                  <a:rPr lang="en-US" b="1" dirty="0" smtClean="0"/>
                  <a:t>0.35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</a:t>
                </a:r>
                <a:r>
                  <a:rPr lang="en-US" b="1" dirty="0" smtClean="0"/>
                  <a:t>0.35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83" y="4619515"/>
                <a:ext cx="1228747" cy="836511"/>
              </a:xfrm>
              <a:prstGeom prst="rect">
                <a:avLst/>
              </a:prstGeom>
              <a:blipFill>
                <a:blip r:embed="rId4"/>
                <a:stretch>
                  <a:fillRect l="-9901" t="-9489" r="-10891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370474" y="3185780"/>
            <a:ext cx="1609483" cy="4999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249943" y="3201021"/>
            <a:ext cx="1579001" cy="499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3410606" y="2167566"/>
                <a:ext cx="16056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N</a:t>
                </a:r>
                <a:r>
                  <a:rPr lang="en-IN" baseline="-25000" dirty="0"/>
                  <a:t>a</a:t>
                </a:r>
                <a:r>
                  <a:rPr lang="en-IN" dirty="0"/>
                  <a:t> 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606" y="2167566"/>
                <a:ext cx="1605632" cy="369332"/>
              </a:xfrm>
              <a:prstGeom prst="rect">
                <a:avLst/>
              </a:prstGeom>
              <a:blipFill>
                <a:blip r:embed="rId7"/>
                <a:stretch>
                  <a:fillRect l="-303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5016238" y="2167567"/>
                <a:ext cx="18444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 smtClean="0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</a:t>
                </a:r>
                <a:r>
                  <a:rPr lang="en-IN" dirty="0" smtClean="0"/>
                  <a:t>5*10</a:t>
                </a:r>
                <a:r>
                  <a:rPr lang="en-IN" baseline="30000" dirty="0" smtClean="0"/>
                  <a:t>15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dirty="0" smtClean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38" y="2167567"/>
                <a:ext cx="1844479" cy="369332"/>
              </a:xfrm>
              <a:prstGeom prst="rect">
                <a:avLst/>
              </a:prstGeom>
              <a:blipFill>
                <a:blip r:embed="rId8"/>
                <a:stretch>
                  <a:fillRect l="-298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6802261" y="2148650"/>
                <a:ext cx="1612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10</a:t>
                </a:r>
                <a:r>
                  <a:rPr lang="en-IN" baseline="30000" dirty="0"/>
                  <a:t>16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261" y="2148650"/>
                <a:ext cx="1612044" cy="369332"/>
              </a:xfrm>
              <a:prstGeom prst="rect">
                <a:avLst/>
              </a:prstGeom>
              <a:blipFill>
                <a:blip r:embed="rId9"/>
                <a:stretch>
                  <a:fillRect l="-340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944580" y="3185780"/>
            <a:ext cx="1609483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77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FCC6F8-20F9-B049-C617-38876EDD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97" y="365126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Electrons and holes Profile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156" y="1155308"/>
            <a:ext cx="8332186" cy="499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798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Electrons and </a:t>
            </a:r>
            <a:r>
              <a:rPr lang="en-IN" dirty="0" smtClean="0"/>
              <a:t>Holes </a:t>
            </a:r>
            <a:r>
              <a:rPr lang="en-IN" dirty="0"/>
              <a:t>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515" y="1125416"/>
            <a:ext cx="8997468" cy="539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68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54096" y="268410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Charge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82" y="1059345"/>
            <a:ext cx="8711933" cy="522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13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2DFCA4-B040-E4C7-C764-9D212C52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29" y="248931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Electric Field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2" t="5961" r="7152" b="2649"/>
          <a:stretch/>
        </p:blipFill>
        <p:spPr>
          <a:xfrm>
            <a:off x="677005" y="1160586"/>
            <a:ext cx="7223539" cy="485335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flipH="1" flipV="1">
            <a:off x="3472963" y="537034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 flipH="1" flipV="1">
            <a:off x="5416061" y="2417901"/>
            <a:ext cx="45719" cy="527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61780" y="2316749"/>
            <a:ext cx="710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Point-2</a:t>
            </a: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3C76C5-F447-BBB8-B348-DA08A375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241160"/>
              </p:ext>
            </p:extLst>
          </p:nvPr>
        </p:nvGraphicFramePr>
        <p:xfrm>
          <a:off x="7900544" y="2245934"/>
          <a:ext cx="4173166" cy="2164296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(V/m)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-1.88738e-06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 smtClean="0"/>
                        <a:t>Point-2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-7.13114e+5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440630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-3.41353e+6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160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Potential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2" t="5129" r="6570" b="3045"/>
          <a:stretch/>
        </p:blipFill>
        <p:spPr>
          <a:xfrm>
            <a:off x="545123" y="1358284"/>
            <a:ext cx="7473712" cy="503799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147E18-EC55-ED85-EA7D-E18D9E1EF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01728"/>
              </p:ext>
            </p:extLst>
          </p:nvPr>
        </p:nvGraphicFramePr>
        <p:xfrm>
          <a:off x="7851780" y="2351442"/>
          <a:ext cx="4173166" cy="162322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86583">
                  <a:extLst>
                    <a:ext uri="{9D8B030D-6E8A-4147-A177-3AD203B41FA5}">
                      <a16:colId xmlns:a16="http://schemas.microsoft.com/office/drawing/2014/main" val="1153655699"/>
                    </a:ext>
                  </a:extLst>
                </a:gridCol>
                <a:gridCol w="2086583">
                  <a:extLst>
                    <a:ext uri="{9D8B030D-6E8A-4147-A177-3AD203B41FA5}">
                      <a16:colId xmlns:a16="http://schemas.microsoft.com/office/drawing/2014/main" val="2915075142"/>
                    </a:ext>
                  </a:extLst>
                </a:gridCol>
              </a:tblGrid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/>
                        <a:t>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050951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</a:t>
                      </a:r>
                      <a:r>
                        <a:rPr lang="en-IN" dirty="0" smtClean="0"/>
                        <a:t>0.206371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64457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IN" dirty="0"/>
                        <a:t>M</a:t>
                      </a:r>
                      <a:r>
                        <a:rPr lang="en-IN" dirty="0" smtClean="0"/>
                        <a:t>inimum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</a:t>
                      </a:r>
                      <a:r>
                        <a:rPr lang="en-IN" dirty="0" smtClean="0"/>
                        <a:t>0.999245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0146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2567" y="4053226"/>
            <a:ext cx="3166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Potential Difference = </a:t>
            </a:r>
            <a:r>
              <a:rPr lang="en-US" dirty="0" smtClean="0"/>
              <a:t>-</a:t>
            </a:r>
            <a:r>
              <a:rPr lang="en-US" dirty="0" smtClean="0"/>
              <a:t>0.7928 </a:t>
            </a:r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797668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224436" y="523386"/>
            <a:ext cx="9434304" cy="99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 smtClean="0"/>
              <a:t>Doping profile of material-6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24245" y="2558560"/>
            <a:ext cx="1670538" cy="18727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97637" y="2558560"/>
            <a:ext cx="1407449" cy="18727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605087" y="2562953"/>
            <a:ext cx="1670538" cy="18727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3524245" y="4526347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3645009" y="4615195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009" y="4615195"/>
                <a:ext cx="1153290" cy="836511"/>
              </a:xfrm>
              <a:prstGeom prst="rect">
                <a:avLst/>
              </a:prstGeom>
              <a:blipFill>
                <a:blip r:embed="rId2"/>
                <a:stretch>
                  <a:fillRect l="-8995" t="-9489" r="-10053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>
            <a:off x="6423530" y="4519791"/>
            <a:ext cx="1670538" cy="2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811761-AD5B-A410-91FB-F7E9CBC0B147}"/>
              </a:ext>
            </a:extLst>
          </p:cNvPr>
          <p:cNvCxnSpPr>
            <a:cxnSpLocks/>
          </p:cNvCxnSpPr>
          <p:nvPr/>
        </p:nvCxnSpPr>
        <p:spPr>
          <a:xfrm flipV="1">
            <a:off x="5194783" y="4519791"/>
            <a:ext cx="1228747" cy="65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6750995" y="4615196"/>
                <a:ext cx="1153290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995" y="4615196"/>
                <a:ext cx="1153290" cy="836511"/>
              </a:xfrm>
              <a:prstGeom prst="rect">
                <a:avLst/>
              </a:prstGeom>
              <a:blipFill>
                <a:blip r:embed="rId3"/>
                <a:stretch>
                  <a:fillRect l="-8947" t="-9489" r="-9474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/>
              <p:nvPr/>
            </p:nvSpPr>
            <p:spPr>
              <a:xfrm>
                <a:off x="5194783" y="4619515"/>
                <a:ext cx="1228747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b="1" dirty="0" smtClean="0"/>
                  <a:t>L = </a:t>
                </a:r>
                <a:r>
                  <a:rPr lang="en-US" b="1" dirty="0" smtClean="0"/>
                  <a:t>0.5</a:t>
                </a:r>
                <a:r>
                  <a:rPr lang="en-IN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 smtClean="0"/>
                  <a:t>m = </a:t>
                </a:r>
                <a:r>
                  <a:rPr lang="en-US" b="1" dirty="0" smtClean="0"/>
                  <a:t>0.5</a:t>
                </a:r>
                <a:r>
                  <a:rPr lang="en-IN" b="1" dirty="0" smtClean="0"/>
                  <a:t>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/>
                  <a:t> cm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E2C4B-101E-3F19-DF9A-886AEC12B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83" y="4619515"/>
                <a:ext cx="1228747" cy="836511"/>
              </a:xfrm>
              <a:prstGeom prst="rect">
                <a:avLst/>
              </a:prstGeom>
              <a:blipFill>
                <a:blip r:embed="rId4"/>
                <a:stretch>
                  <a:fillRect l="-8416" t="-9489" r="-13366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305933" y="3185780"/>
            <a:ext cx="1609483" cy="4999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249943" y="3201021"/>
            <a:ext cx="1579001" cy="499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410606" y="2167566"/>
                <a:ext cx="16056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N</a:t>
                </a:r>
                <a:r>
                  <a:rPr lang="en-IN" baseline="-25000" dirty="0"/>
                  <a:t>a</a:t>
                </a:r>
                <a:r>
                  <a:rPr lang="en-IN" dirty="0"/>
                  <a:t> = </a:t>
                </a:r>
                <a:r>
                  <a:rPr lang="en-IN" dirty="0" smtClean="0"/>
                  <a:t>10</a:t>
                </a:r>
                <a:r>
                  <a:rPr lang="en-IN" baseline="30000" dirty="0" smtClean="0"/>
                  <a:t>17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606" y="2167566"/>
                <a:ext cx="1605632" cy="369332"/>
              </a:xfrm>
              <a:prstGeom prst="rect">
                <a:avLst/>
              </a:prstGeom>
              <a:blipFill>
                <a:blip r:embed="rId7"/>
                <a:stretch>
                  <a:fillRect l="-303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5016238" y="2167567"/>
                <a:ext cx="18444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 smtClean="0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</a:t>
                </a:r>
                <a:r>
                  <a:rPr lang="en-IN" dirty="0" smtClean="0"/>
                  <a:t>5*10</a:t>
                </a:r>
                <a:r>
                  <a:rPr lang="en-IN" baseline="30000" dirty="0" smtClean="0"/>
                  <a:t>15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IN" dirty="0" smtClean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38" y="2167567"/>
                <a:ext cx="1844479" cy="369332"/>
              </a:xfrm>
              <a:prstGeom prst="rect">
                <a:avLst/>
              </a:prstGeom>
              <a:blipFill>
                <a:blip r:embed="rId8"/>
                <a:stretch>
                  <a:fillRect l="-298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6802261" y="2148650"/>
                <a:ext cx="1612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 err="1" smtClean="0"/>
                  <a:t>N</a:t>
                </a:r>
                <a:r>
                  <a:rPr lang="en-IN" baseline="-25000" dirty="0" err="1"/>
                  <a:t>d</a:t>
                </a:r>
                <a:r>
                  <a:rPr lang="en-IN" dirty="0" smtClean="0"/>
                  <a:t> </a:t>
                </a:r>
                <a:r>
                  <a:rPr lang="en-IN" dirty="0"/>
                  <a:t>= 10</a:t>
                </a:r>
                <a:r>
                  <a:rPr lang="en-IN" baseline="30000" dirty="0"/>
                  <a:t>16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261" y="2148650"/>
                <a:ext cx="1612044" cy="369332"/>
              </a:xfrm>
              <a:prstGeom prst="rect">
                <a:avLst/>
              </a:prstGeom>
              <a:blipFill>
                <a:blip r:embed="rId9"/>
                <a:stretch>
                  <a:fillRect l="-340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944580" y="3185780"/>
            <a:ext cx="1609483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99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9FCC6F8-20F9-B049-C617-38876EDD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889" y="145318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Electrons and holes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967147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99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9FCC6F8-20F9-B049-C617-38876EDD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97" y="365126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Electrons and holes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83" y="1063863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8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54096" y="268410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Charge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82" y="10286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5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2DFCA4-B040-E4C7-C764-9D212C52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29" y="248931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Electric Field 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1" t="4968" r="5609" b="2404"/>
          <a:stretch/>
        </p:blipFill>
        <p:spPr>
          <a:xfrm>
            <a:off x="1538653" y="1242089"/>
            <a:ext cx="8159261" cy="50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68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54097" y="154111"/>
            <a:ext cx="9434304" cy="993158"/>
          </a:xfrm>
        </p:spPr>
        <p:txBody>
          <a:bodyPr/>
          <a:lstStyle/>
          <a:p>
            <a:pPr algn="ctr"/>
            <a:r>
              <a:rPr lang="en-IN" dirty="0"/>
              <a:t>Potential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" t="5609" r="5129" b="2404"/>
          <a:stretch/>
        </p:blipFill>
        <p:spPr>
          <a:xfrm>
            <a:off x="1635370" y="1147269"/>
            <a:ext cx="8343900" cy="504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1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fb6405-6fc5-4803-88c6-777e5978cb98">
      <Terms xmlns="http://schemas.microsoft.com/office/infopath/2007/PartnerControls"/>
    </lcf76f155ced4ddcb4097134ff3c332f>
    <TaxCatchAll xmlns="8e8783c7-cf24-435b-b887-d34ee8a97059" xsi:nil="true"/>
    <Briefdescription xmlns="29fb6405-6fc5-4803-88c6-777e5978cb9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C7228AD919346B8E3118D5AE2BCB9" ma:contentTypeVersion="16" ma:contentTypeDescription="Create a new document." ma:contentTypeScope="" ma:versionID="a39215852be27f7fbe40486295939b0e">
  <xsd:schema xmlns:xsd="http://www.w3.org/2001/XMLSchema" xmlns:xs="http://www.w3.org/2001/XMLSchema" xmlns:p="http://schemas.microsoft.com/office/2006/metadata/properties" xmlns:ns2="29fb6405-6fc5-4803-88c6-777e5978cb98" xmlns:ns3="8e8783c7-cf24-435b-b887-d34ee8a97059" targetNamespace="http://schemas.microsoft.com/office/2006/metadata/properties" ma:root="true" ma:fieldsID="91559b816e1b9668d4b1fcd3b886888b" ns2:_="" ns3:_="">
    <xsd:import namespace="29fb6405-6fc5-4803-88c6-777e5978cb98"/>
    <xsd:import namespace="8e8783c7-cf24-435b-b887-d34ee8a970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Briefdescription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fb6405-6fc5-4803-88c6-777e5978cb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Briefdescription" ma:index="18" nillable="true" ma:displayName="Brief description" ma:format="Dropdown" ma:internalName="Briefdescription">
      <xsd:simpleType>
        <xsd:restriction base="dms:Text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cd136f8-8730-4abb-83bf-80f7ecf780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783c7-cf24-435b-b887-d34ee8a97059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6ae1068c-56b9-4ac2-9239-599ddd2d3071}" ma:internalName="TaxCatchAll" ma:showField="CatchAllData" ma:web="8e8783c7-cf24-435b-b887-d34ee8a970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4A86A8-6624-4C72-95B1-174D640FE8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AFCCE8-2677-49CA-A3EF-B1C8E6CF3E74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29fb6405-6fc5-4803-88c6-777e5978cb98"/>
    <ds:schemaRef ds:uri="http://purl.org/dc/terms/"/>
    <ds:schemaRef ds:uri="8e8783c7-cf24-435b-b887-d34ee8a9705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F373D9-05A5-40BB-9439-004E307713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fb6405-6fc5-4803-88c6-777e5978cb98"/>
    <ds:schemaRef ds:uri="8e8783c7-cf24-435b-b887-d34ee8a970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6099</TotalTime>
  <Words>429</Words>
  <Application>Microsoft Office PowerPoint</Application>
  <PresentationFormat>Widescreen</PresentationFormat>
  <Paragraphs>145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Office Theme</vt:lpstr>
      <vt:lpstr>Electric Field and Potential Profile</vt:lpstr>
      <vt:lpstr>Doping profile of material-1</vt:lpstr>
      <vt:lpstr>Electrons and Holes Profile</vt:lpstr>
      <vt:lpstr>Electrons and Holes Profile</vt:lpstr>
      <vt:lpstr>Charge Profile</vt:lpstr>
      <vt:lpstr>Electric Field Profile</vt:lpstr>
      <vt:lpstr>PowerPoint Presentation</vt:lpstr>
      <vt:lpstr>Potential profile</vt:lpstr>
      <vt:lpstr>PowerPoint Presentation</vt:lpstr>
      <vt:lpstr>Doping profile of material-2</vt:lpstr>
      <vt:lpstr>Electrons and holes Profile</vt:lpstr>
      <vt:lpstr>Electrons and Holes Profile</vt:lpstr>
      <vt:lpstr>Charge Profile</vt:lpstr>
      <vt:lpstr>Electric Field Profile</vt:lpstr>
      <vt:lpstr>Potential Profile</vt:lpstr>
      <vt:lpstr>Doping profile of material-3</vt:lpstr>
      <vt:lpstr>Electrons and Holes Profile</vt:lpstr>
      <vt:lpstr>Electrons and Holes Profile</vt:lpstr>
      <vt:lpstr>Charge Profile</vt:lpstr>
      <vt:lpstr>Electric Field Profile</vt:lpstr>
      <vt:lpstr>Potential Profile</vt:lpstr>
      <vt:lpstr>Doping profile of material-4</vt:lpstr>
      <vt:lpstr>Electrons and holes Profile</vt:lpstr>
      <vt:lpstr>Electrons and Holes Profile</vt:lpstr>
      <vt:lpstr>Charge Profile</vt:lpstr>
      <vt:lpstr>Electric Field Profile</vt:lpstr>
      <vt:lpstr>Potential Profile</vt:lpstr>
      <vt:lpstr>PowerPoint Presentation</vt:lpstr>
      <vt:lpstr>Electrons and holes Profile</vt:lpstr>
      <vt:lpstr>Electrons and Holes Profile</vt:lpstr>
      <vt:lpstr>Charge Profile</vt:lpstr>
      <vt:lpstr>Electric Field Profile</vt:lpstr>
      <vt:lpstr>Potential Profile</vt:lpstr>
      <vt:lpstr>PowerPoint Presentation</vt:lpstr>
      <vt:lpstr>Electrons and holes Profile</vt:lpstr>
      <vt:lpstr>Electrons and holes Profile</vt:lpstr>
      <vt:lpstr>Charge Profile</vt:lpstr>
      <vt:lpstr>Electric Field Profile</vt:lpstr>
      <vt:lpstr>Potential 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Field and Voltage Profile</dc:title>
  <dc:creator>Bipul Biswas</dc:creator>
  <cp:lastModifiedBy>Nandana P K</cp:lastModifiedBy>
  <cp:revision>25</cp:revision>
  <dcterms:created xsi:type="dcterms:W3CDTF">2024-09-20T06:21:57Z</dcterms:created>
  <dcterms:modified xsi:type="dcterms:W3CDTF">2024-10-04T05:49:23Z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0x0101008F5C7228AD919346B8E3118D5AE2BCB9</vt:lpwstr>
  </property>
</Properties>
</file>